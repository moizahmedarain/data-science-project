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ato" panose="020B0604020202020204" charset="0"/>
      <p:regular r:id="rId19"/>
      <p:bold r:id="rId20"/>
      <p:italic r:id="rId21"/>
      <p:boldItalic r:id="rId22"/>
    </p:embeddedFont>
    <p:embeddedFont>
      <p:font typeface="Poppins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18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76437" y="1618357"/>
            <a:ext cx="8239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B8A6"/>
                </a:solidFill>
                <a:latin typeface="Lato"/>
                <a:ea typeface="Lato"/>
                <a:cs typeface="Lato"/>
                <a:sym typeface="Lato"/>
              </a:rPr>
              <a:t>FINAL PROJECT REPORT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70459" y="2066032"/>
            <a:ext cx="8651081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Air Quality Index Analysis: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Karachi &amp; Lahore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976437" y="3597473"/>
            <a:ext cx="82391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Data Science Study on AQI Forecasting &amp; Clustering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976437" y="4344144"/>
            <a:ext cx="8239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Moiz Ahmed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{BSE-23F-150} |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Abdul Rauf Khan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{BSE-23F-123}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976437" y="4791819"/>
            <a:ext cx="8239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SMIU Department of Software Engineering | Supervised by Sir Asif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Irshad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16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55746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Addressing the Smog Crisis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1575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Air pollution, specifically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PM2.5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poses a critical threat to respiratory health in major Pakistani cities. Our project seeks to: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7950" y="2147887"/>
            <a:ext cx="508635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52500" y="39100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Analyze 46 months of historical weather and AQI data.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4053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 future pollution levels to aid public health alerts.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9006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Discover seasonal trends through machine learning.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624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577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53000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Motivation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47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5524499" y="3922067"/>
            <a:ext cx="1143000" cy="571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2710576" y="2917477"/>
            <a:ext cx="677084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smtClean="0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Prediction</a:t>
            </a:r>
            <a:endParaRPr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2871787" y="4060477"/>
            <a:ext cx="64484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Time-Series Forecasting using SARIMA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16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240506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Handling Seasonality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30051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selected the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SARIMA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model because it excels at capturing seasonal behavior and long-term trends in monthly environmental data.</a:t>
            </a:r>
            <a:endParaRPr dirty="0"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7950" y="2147887"/>
            <a:ext cx="508635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952500" y="40624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easonal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ARIMA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Captures repeating cycles.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45577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Trained on 80% of historical PM2.5 values.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50530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Tested on the final 20% to validate accuracy.</a:t>
            </a:r>
            <a:endParaRPr/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1480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1010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0540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SARIMA Forecasting Model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9337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19337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19337"/>
            <a:ext cx="3492549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7098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62025" y="3281362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Main Target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62025" y="3881437"/>
            <a:ext cx="27114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Predicting PM2.5 (fine particulate matter) levels—the most harmful pollutant in </a:t>
            </a:r>
            <a:r>
              <a:rPr lang="en-US" sz="15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environments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7098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4740324" y="3281362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40324" y="388143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Comparing actual vs. predicted values through rigorous graphical and statistical analysis.</a:t>
            </a:r>
            <a:endParaRPr dirty="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7098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8518624" y="3281362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Long-Term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518624" y="388143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Establishing past patterns to reliably forecast future pollution surges during seasonal shifts.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Forecasting Objectives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66875"/>
            <a:ext cx="110490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55149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model tracks seasonal peaks effectively across the 46-month dataset period.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Actual vs. Predicted PM2.5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5432137" y="3922067"/>
            <a:ext cx="1143000" cy="5715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2570559" y="2917477"/>
            <a:ext cx="705088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smtClean="0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Clustering</a:t>
            </a: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2738437" y="4060477"/>
            <a:ext cx="67151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Unsupervised Learning for Pattern Discovery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4100"/>
            <a:ext cx="52387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24100"/>
            <a:ext cx="523875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962025" y="2714625"/>
            <a:ext cx="468058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962025" y="34290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Initially, applying K-Means directly to the entire dataset created clusters without any clear environmental objective.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962025" y="4486275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Results were mathematically correct but provided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 meaningful insights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into specific weather phenomena.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772275" y="2714625"/>
            <a:ext cx="468058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The Insight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772275" y="34290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science requires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context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Without selecting features related to a specific goal, the clustering remains blind to real-world patterns.</a:t>
            </a:r>
            <a:endParaRPr/>
          </a:p>
        </p:txBody>
      </p:sp>
      <p:pic>
        <p:nvPicPr>
          <p:cNvPr id="180" name="Google Shape;18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146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7146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Challenge: Direct K-Means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16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2252662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Feature-Specific Grouping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285273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resolved this by dividing the project into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distinct environmental objectives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before clustering.</a:t>
            </a:r>
            <a:endParaRPr/>
          </a:p>
        </p:txBody>
      </p:sp>
      <p:pic>
        <p:nvPicPr>
          <p:cNvPr id="192" name="Google Shape;1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7950" y="2147887"/>
            <a:ext cx="508635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952500" y="360521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Select features relevant to a specific goal (e.g., Rainfall features for rain clustering).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952500" y="44053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Apply K-Means only on that particular subset.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952500" y="490061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5 distinct clusters ranging from "Very Low" to "Extreme" conditions.</a:t>
            </a:r>
            <a:endParaRPr/>
          </a:p>
        </p:txBody>
      </p:sp>
      <p:pic>
        <p:nvPicPr>
          <p:cNvPr id="196" name="Google Shape;19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576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5770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53000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Resolution: Objective-Based Clustering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95537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95537"/>
            <a:ext cx="34925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7860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962025" y="3357562"/>
            <a:ext cx="284707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Industrial Pollution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962025" y="4414837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Clustering SO2, NO2, and CO to detect factory emission patterns.</a:t>
            </a:r>
            <a:endParaRPr/>
          </a:p>
        </p:txBody>
      </p:sp>
      <p:pic>
        <p:nvPicPr>
          <p:cNvPr id="212" name="Google Shape;21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786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4740324" y="3357562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Rainfall Patterns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4740324" y="3957637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Using precipitation and humidity to group wet vs. dry conditions.</a:t>
            </a:r>
            <a:endParaRPr/>
          </a:p>
        </p:txBody>
      </p:sp>
      <p:pic>
        <p:nvPicPr>
          <p:cNvPr id="215" name="Google Shape;215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7860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8518624" y="3357562"/>
            <a:ext cx="28470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Solar Potentials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8518624" y="3957637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Analyzing radiation and cloud cover for renewable energy insights.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smtClean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35 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Strategic Objectives</a:t>
            </a:r>
            <a:endParaRPr dirty="0"/>
          </a:p>
        </p:txBody>
      </p:sp>
      <p:sp>
        <p:nvSpPr>
          <p:cNvPr id="219" name="Google Shape;219;p2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571500" y="1628775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Pattern Discovery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571500" y="2419350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Visualizing the Groups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571500" y="30194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Four key visualizations are generated per objective to ensure total transparency: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952500" y="37719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Elbow Chart: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Optimal cluster confirmation.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52500" y="4267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Scatter Plot: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Separation in feature space.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952500" y="47625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Heatmaps: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Average feature values per cluster.</a:t>
            </a:r>
            <a:endParaRPr/>
          </a:p>
        </p:txBody>
      </p:sp>
      <p:pic>
        <p:nvPicPr>
          <p:cNvPr id="232" name="Google Shape;23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42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195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148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9946" y="604117"/>
            <a:ext cx="3303502" cy="26493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5045" y="3439256"/>
            <a:ext cx="6775517" cy="31894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9"/>
          <a:srcRect r="7250" b="6568"/>
          <a:stretch/>
        </p:blipFill>
        <p:spPr>
          <a:xfrm>
            <a:off x="5276444" y="604117"/>
            <a:ext cx="3303502" cy="26249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2060495" y="1893540"/>
            <a:ext cx="807100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Any Questions?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2252662" y="3227040"/>
            <a:ext cx="76866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Thank you for your attention to this study on Karachi &amp; Lahore's environment.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2252662" y="4068960"/>
            <a:ext cx="768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Moiz Ahmed &amp; Abdul Rauf Khan | SMIU SE Department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2252662" y="4516635"/>
            <a:ext cx="768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Source: Open-Meteo API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Office PowerPoint</Application>
  <PresentationFormat>Widescreen</PresentationFormat>
  <Paragraphs>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</dc:creator>
  <cp:lastModifiedBy>hp</cp:lastModifiedBy>
  <cp:revision>3</cp:revision>
  <dcterms:modified xsi:type="dcterms:W3CDTF">2026-05-22T05:25:26Z</dcterms:modified>
</cp:coreProperties>
</file>